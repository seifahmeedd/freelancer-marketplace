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9019" autoAdjust="0"/>
    <p:restoredTop sz="94610"/>
  </p:normalViewPr>
  <p:slideViewPr>
    <p:cSldViewPr snapToGrid="0" snapToObjects="1">
      <p:cViewPr>
        <p:scale>
          <a:sx n="107" d="100"/>
          <a:sy n="107" d="100"/>
        </p:scale>
        <p:origin x="58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if ahmed" userId="97af24f1cd4e9092" providerId="LiveId" clId="{FA2763E1-4C64-44D3-9CED-01F1EFD1E4FE}"/>
    <pc:docChg chg="undo custSel modSld">
      <pc:chgData name="seif ahmed" userId="97af24f1cd4e9092" providerId="LiveId" clId="{FA2763E1-4C64-44D3-9CED-01F1EFD1E4FE}" dt="2026-05-08T20:10:23.968" v="410" actId="14100"/>
      <pc:docMkLst>
        <pc:docMk/>
      </pc:docMkLst>
      <pc:sldChg chg="addSp delSp modSp mod">
        <pc:chgData name="seif ahmed" userId="97af24f1cd4e9092" providerId="LiveId" clId="{FA2763E1-4C64-44D3-9CED-01F1EFD1E4FE}" dt="2026-05-08T20:10:23.968" v="410" actId="14100"/>
        <pc:sldMkLst>
          <pc:docMk/>
          <pc:sldMk cId="0" sldId="262"/>
        </pc:sldMkLst>
        <pc:spChg chg="add mod">
          <ac:chgData name="seif ahmed" userId="97af24f1cd4e9092" providerId="LiveId" clId="{FA2763E1-4C64-44D3-9CED-01F1EFD1E4FE}" dt="2026-05-08T20:02:15.852" v="193" actId="1076"/>
          <ac:spMkLst>
            <pc:docMk/>
            <pc:sldMk cId="0" sldId="262"/>
            <ac:spMk id="4" creationId="{CC8A0A05-46D6-FACF-DAE7-1176DE0577CA}"/>
          </ac:spMkLst>
        </pc:spChg>
        <pc:spChg chg="mod">
          <ac:chgData name="seif ahmed" userId="97af24f1cd4e9092" providerId="LiveId" clId="{FA2763E1-4C64-44D3-9CED-01F1EFD1E4FE}" dt="2026-05-08T20:04:54.595" v="215" actId="1076"/>
          <ac:spMkLst>
            <pc:docMk/>
            <pc:sldMk cId="0" sldId="262"/>
            <ac:spMk id="5" creationId="{00000000-0000-0000-0000-000000000000}"/>
          </ac:spMkLst>
        </pc:spChg>
        <pc:spChg chg="mod">
          <ac:chgData name="seif ahmed" userId="97af24f1cd4e9092" providerId="LiveId" clId="{FA2763E1-4C64-44D3-9CED-01F1EFD1E4FE}" dt="2026-05-08T20:02:15.852" v="193" actId="1076"/>
          <ac:spMkLst>
            <pc:docMk/>
            <pc:sldMk cId="0" sldId="262"/>
            <ac:spMk id="6" creationId="{00000000-0000-0000-0000-000000000000}"/>
          </ac:spMkLst>
        </pc:spChg>
        <pc:spChg chg="mod">
          <ac:chgData name="seif ahmed" userId="97af24f1cd4e9092" providerId="LiveId" clId="{FA2763E1-4C64-44D3-9CED-01F1EFD1E4FE}" dt="2026-05-08T20:02:15.852" v="193" actId="1076"/>
          <ac:spMkLst>
            <pc:docMk/>
            <pc:sldMk cId="0" sldId="262"/>
            <ac:spMk id="7" creationId="{00000000-0000-0000-0000-000000000000}"/>
          </ac:spMkLst>
        </pc:spChg>
        <pc:spChg chg="mod">
          <ac:chgData name="seif ahmed" userId="97af24f1cd4e9092" providerId="LiveId" clId="{FA2763E1-4C64-44D3-9CED-01F1EFD1E4FE}" dt="2026-05-08T20:02:15.852" v="193" actId="1076"/>
          <ac:spMkLst>
            <pc:docMk/>
            <pc:sldMk cId="0" sldId="262"/>
            <ac:spMk id="8" creationId="{00000000-0000-0000-0000-000000000000}"/>
          </ac:spMkLst>
        </pc:spChg>
        <pc:spChg chg="mod">
          <ac:chgData name="seif ahmed" userId="97af24f1cd4e9092" providerId="LiveId" clId="{FA2763E1-4C64-44D3-9CED-01F1EFD1E4FE}" dt="2026-05-08T20:02:15.852" v="193" actId="1076"/>
          <ac:spMkLst>
            <pc:docMk/>
            <pc:sldMk cId="0" sldId="262"/>
            <ac:spMk id="9" creationId="{00000000-0000-0000-0000-000000000000}"/>
          </ac:spMkLst>
        </pc:spChg>
        <pc:spChg chg="mod">
          <ac:chgData name="seif ahmed" userId="97af24f1cd4e9092" providerId="LiveId" clId="{FA2763E1-4C64-44D3-9CED-01F1EFD1E4FE}" dt="2026-05-08T20:02:15.852" v="193" actId="1076"/>
          <ac:spMkLst>
            <pc:docMk/>
            <pc:sldMk cId="0" sldId="262"/>
            <ac:spMk id="10" creationId="{00000000-0000-0000-0000-000000000000}"/>
          </ac:spMkLst>
        </pc:spChg>
        <pc:spChg chg="mod">
          <ac:chgData name="seif ahmed" userId="97af24f1cd4e9092" providerId="LiveId" clId="{FA2763E1-4C64-44D3-9CED-01F1EFD1E4FE}" dt="2026-05-08T20:02:15.852" v="193" actId="1076"/>
          <ac:spMkLst>
            <pc:docMk/>
            <pc:sldMk cId="0" sldId="262"/>
            <ac:spMk id="11" creationId="{00000000-0000-0000-0000-000000000000}"/>
          </ac:spMkLst>
        </pc:spChg>
        <pc:spChg chg="add mod">
          <ac:chgData name="seif ahmed" userId="97af24f1cd4e9092" providerId="LiveId" clId="{FA2763E1-4C64-44D3-9CED-01F1EFD1E4FE}" dt="2026-05-08T20:02:15.852" v="193" actId="1076"/>
          <ac:spMkLst>
            <pc:docMk/>
            <pc:sldMk cId="0" sldId="262"/>
            <ac:spMk id="12" creationId="{02DF6E1E-B6ED-3724-C15A-FF3D9EBF6BEB}"/>
          </ac:spMkLst>
        </pc:spChg>
        <pc:spChg chg="add mod">
          <ac:chgData name="seif ahmed" userId="97af24f1cd4e9092" providerId="LiveId" clId="{FA2763E1-4C64-44D3-9CED-01F1EFD1E4FE}" dt="2026-05-08T19:58:56.601" v="158" actId="1076"/>
          <ac:spMkLst>
            <pc:docMk/>
            <pc:sldMk cId="0" sldId="262"/>
            <ac:spMk id="14" creationId="{A97BB162-2DD3-E13A-9E5B-280E5887D18C}"/>
          </ac:spMkLst>
        </pc:spChg>
        <pc:spChg chg="add del mod">
          <ac:chgData name="seif ahmed" userId="97af24f1cd4e9092" providerId="LiveId" clId="{FA2763E1-4C64-44D3-9CED-01F1EFD1E4FE}" dt="2026-05-08T19:54:32.667" v="35" actId="478"/>
          <ac:spMkLst>
            <pc:docMk/>
            <pc:sldMk cId="0" sldId="262"/>
            <ac:spMk id="15" creationId="{0995BAC7-33B6-4793-3E48-76CC794C0543}"/>
          </ac:spMkLst>
        </pc:spChg>
        <pc:spChg chg="del mod">
          <ac:chgData name="seif ahmed" userId="97af24f1cd4e9092" providerId="LiveId" clId="{FA2763E1-4C64-44D3-9CED-01F1EFD1E4FE}" dt="2026-05-08T19:54:30.934" v="34" actId="478"/>
          <ac:spMkLst>
            <pc:docMk/>
            <pc:sldMk cId="0" sldId="262"/>
            <ac:spMk id="16" creationId="{00000000-0000-0000-0000-000000000000}"/>
          </ac:spMkLst>
        </pc:spChg>
        <pc:spChg chg="mod">
          <ac:chgData name="seif ahmed" userId="97af24f1cd4e9092" providerId="LiveId" clId="{FA2763E1-4C64-44D3-9CED-01F1EFD1E4FE}" dt="2026-05-08T20:03:57.033" v="206" actId="20577"/>
          <ac:spMkLst>
            <pc:docMk/>
            <pc:sldMk cId="0" sldId="262"/>
            <ac:spMk id="17" creationId="{00000000-0000-0000-0000-000000000000}"/>
          </ac:spMkLst>
        </pc:spChg>
        <pc:spChg chg="del mod">
          <ac:chgData name="seif ahmed" userId="97af24f1cd4e9092" providerId="LiveId" clId="{FA2763E1-4C64-44D3-9CED-01F1EFD1E4FE}" dt="2026-05-08T19:54:29.135" v="33" actId="478"/>
          <ac:spMkLst>
            <pc:docMk/>
            <pc:sldMk cId="0" sldId="262"/>
            <ac:spMk id="18" creationId="{00000000-0000-0000-0000-000000000000}"/>
          </ac:spMkLst>
        </pc:spChg>
        <pc:spChg chg="mod">
          <ac:chgData name="seif ahmed" userId="97af24f1cd4e9092" providerId="LiveId" clId="{FA2763E1-4C64-44D3-9CED-01F1EFD1E4FE}" dt="2026-05-08T20:10:09.023" v="393" actId="20577"/>
          <ac:spMkLst>
            <pc:docMk/>
            <pc:sldMk cId="0" sldId="262"/>
            <ac:spMk id="19" creationId="{00000000-0000-0000-0000-000000000000}"/>
          </ac:spMkLst>
        </pc:spChg>
        <pc:spChg chg="mod">
          <ac:chgData name="seif ahmed" userId="97af24f1cd4e9092" providerId="LiveId" clId="{FA2763E1-4C64-44D3-9CED-01F1EFD1E4FE}" dt="2026-05-08T20:02:21.799" v="194" actId="1076"/>
          <ac:spMkLst>
            <pc:docMk/>
            <pc:sldMk cId="0" sldId="262"/>
            <ac:spMk id="20" creationId="{00000000-0000-0000-0000-000000000000}"/>
          </ac:spMkLst>
        </pc:spChg>
        <pc:spChg chg="add del mod">
          <ac:chgData name="seif ahmed" userId="97af24f1cd4e9092" providerId="LiveId" clId="{FA2763E1-4C64-44D3-9CED-01F1EFD1E4FE}" dt="2026-05-08T19:56:44.091" v="82" actId="478"/>
          <ac:spMkLst>
            <pc:docMk/>
            <pc:sldMk cId="0" sldId="262"/>
            <ac:spMk id="44" creationId="{4E5B6599-07CF-0168-5203-EDFE5737111E}"/>
          </ac:spMkLst>
        </pc:spChg>
        <pc:spChg chg="add del mod">
          <ac:chgData name="seif ahmed" userId="97af24f1cd4e9092" providerId="LiveId" clId="{FA2763E1-4C64-44D3-9CED-01F1EFD1E4FE}" dt="2026-05-08T19:56:45.714" v="83" actId="478"/>
          <ac:spMkLst>
            <pc:docMk/>
            <pc:sldMk cId="0" sldId="262"/>
            <ac:spMk id="45" creationId="{31A7EFED-D77C-26F5-9E32-E3044A4E1A90}"/>
          </ac:spMkLst>
        </pc:spChg>
        <pc:spChg chg="add del mod">
          <ac:chgData name="seif ahmed" userId="97af24f1cd4e9092" providerId="LiveId" clId="{FA2763E1-4C64-44D3-9CED-01F1EFD1E4FE}" dt="2026-05-08T19:56:54.655" v="85" actId="478"/>
          <ac:spMkLst>
            <pc:docMk/>
            <pc:sldMk cId="0" sldId="262"/>
            <ac:spMk id="46" creationId="{C48F93BD-D7A2-1A65-BB9E-87B1A9AD810C}"/>
          </ac:spMkLst>
        </pc:spChg>
        <pc:spChg chg="add del mod">
          <ac:chgData name="seif ahmed" userId="97af24f1cd4e9092" providerId="LiveId" clId="{FA2763E1-4C64-44D3-9CED-01F1EFD1E4FE}" dt="2026-05-08T19:56:52.827" v="84" actId="478"/>
          <ac:spMkLst>
            <pc:docMk/>
            <pc:sldMk cId="0" sldId="262"/>
            <ac:spMk id="47" creationId="{8ED8CCDF-20A7-0CD2-C1E6-599F36952A46}"/>
          </ac:spMkLst>
        </pc:spChg>
        <pc:spChg chg="add del">
          <ac:chgData name="seif ahmed" userId="97af24f1cd4e9092" providerId="LiveId" clId="{FA2763E1-4C64-44D3-9CED-01F1EFD1E4FE}" dt="2026-05-08T20:04:46.846" v="214" actId="22"/>
          <ac:spMkLst>
            <pc:docMk/>
            <pc:sldMk cId="0" sldId="262"/>
            <ac:spMk id="78" creationId="{B90B4B66-56E9-339C-FA43-D22992E28414}"/>
          </ac:spMkLst>
        </pc:spChg>
        <pc:spChg chg="add mod">
          <ac:chgData name="seif ahmed" userId="97af24f1cd4e9092" providerId="LiveId" clId="{FA2763E1-4C64-44D3-9CED-01F1EFD1E4FE}" dt="2026-05-08T20:06:27.927" v="257" actId="1076"/>
          <ac:spMkLst>
            <pc:docMk/>
            <pc:sldMk cId="0" sldId="262"/>
            <ac:spMk id="79" creationId="{7CC1B048-427B-1F39-AEB9-18DFB5214CBF}"/>
          </ac:spMkLst>
        </pc:spChg>
        <pc:spChg chg="add mod">
          <ac:chgData name="seif ahmed" userId="97af24f1cd4e9092" providerId="LiveId" clId="{FA2763E1-4C64-44D3-9CED-01F1EFD1E4FE}" dt="2026-05-08T20:07:39.207" v="285" actId="20577"/>
          <ac:spMkLst>
            <pc:docMk/>
            <pc:sldMk cId="0" sldId="262"/>
            <ac:spMk id="80" creationId="{4E40CC6D-9287-C849-782B-ABB53ACBDFBB}"/>
          </ac:spMkLst>
        </pc:spChg>
        <pc:spChg chg="add mod">
          <ac:chgData name="seif ahmed" userId="97af24f1cd4e9092" providerId="LiveId" clId="{FA2763E1-4C64-44D3-9CED-01F1EFD1E4FE}" dt="2026-05-08T20:08:46.083" v="355" actId="14100"/>
          <ac:spMkLst>
            <pc:docMk/>
            <pc:sldMk cId="0" sldId="262"/>
            <ac:spMk id="81" creationId="{EE2EAFAB-1D42-E025-1F5B-3D1DD99C92E7}"/>
          </ac:spMkLst>
        </pc:spChg>
        <pc:spChg chg="add mod">
          <ac:chgData name="seif ahmed" userId="97af24f1cd4e9092" providerId="LiveId" clId="{FA2763E1-4C64-44D3-9CED-01F1EFD1E4FE}" dt="2026-05-08T20:07:55.593" v="301" actId="14100"/>
          <ac:spMkLst>
            <pc:docMk/>
            <pc:sldMk cId="0" sldId="262"/>
            <ac:spMk id="82" creationId="{9ECBD7F3-B192-C0D8-AF09-841D4D50BAB7}"/>
          </ac:spMkLst>
        </pc:spChg>
        <pc:spChg chg="add mod">
          <ac:chgData name="seif ahmed" userId="97af24f1cd4e9092" providerId="LiveId" clId="{FA2763E1-4C64-44D3-9CED-01F1EFD1E4FE}" dt="2026-05-08T20:08:51.790" v="357" actId="14100"/>
          <ac:spMkLst>
            <pc:docMk/>
            <pc:sldMk cId="0" sldId="262"/>
            <ac:spMk id="83" creationId="{F3AF4F72-185C-7B3E-1674-333F7ECE1A12}"/>
          </ac:spMkLst>
        </pc:spChg>
        <pc:spChg chg="add mod">
          <ac:chgData name="seif ahmed" userId="97af24f1cd4e9092" providerId="LiveId" clId="{FA2763E1-4C64-44D3-9CED-01F1EFD1E4FE}" dt="2026-05-08T20:10:23.968" v="410" actId="14100"/>
          <ac:spMkLst>
            <pc:docMk/>
            <pc:sldMk cId="0" sldId="262"/>
            <ac:spMk id="84" creationId="{0318C330-0866-B71B-D4F0-5CF09DEB1ACE}"/>
          </ac:spMkLst>
        </pc:spChg>
        <pc:spChg chg="add mod">
          <ac:chgData name="seif ahmed" userId="97af24f1cd4e9092" providerId="LiveId" clId="{FA2763E1-4C64-44D3-9CED-01F1EFD1E4FE}" dt="2026-05-08T20:08:05.684" v="306" actId="20577"/>
          <ac:spMkLst>
            <pc:docMk/>
            <pc:sldMk cId="0" sldId="262"/>
            <ac:spMk id="85" creationId="{6E980C14-9F5B-52D4-43AA-70FD8717FF0B}"/>
          </ac:spMkLst>
        </pc:spChg>
        <pc:spChg chg="add mod">
          <ac:chgData name="seif ahmed" userId="97af24f1cd4e9092" providerId="LiveId" clId="{FA2763E1-4C64-44D3-9CED-01F1EFD1E4FE}" dt="2026-05-08T20:08:18.047" v="323" actId="20577"/>
          <ac:spMkLst>
            <pc:docMk/>
            <pc:sldMk cId="0" sldId="262"/>
            <ac:spMk id="86" creationId="{24C20561-29FD-BAFA-3869-68A389CF255D}"/>
          </ac:spMkLst>
        </pc:spChg>
        <pc:cxnChg chg="add mod">
          <ac:chgData name="seif ahmed" userId="97af24f1cd4e9092" providerId="LiveId" clId="{FA2763E1-4C64-44D3-9CED-01F1EFD1E4FE}" dt="2026-05-08T19:59:38.609" v="161" actId="14100"/>
          <ac:cxnSpMkLst>
            <pc:docMk/>
            <pc:sldMk cId="0" sldId="262"/>
            <ac:cxnSpMk id="49" creationId="{05686B32-2E06-B5A2-6C79-C4F004B6351B}"/>
          </ac:cxnSpMkLst>
        </pc:cxnChg>
        <pc:cxnChg chg="add mod">
          <ac:chgData name="seif ahmed" userId="97af24f1cd4e9092" providerId="LiveId" clId="{FA2763E1-4C64-44D3-9CED-01F1EFD1E4FE}" dt="2026-05-08T19:59:55.191" v="167" actId="1076"/>
          <ac:cxnSpMkLst>
            <pc:docMk/>
            <pc:sldMk cId="0" sldId="262"/>
            <ac:cxnSpMk id="52" creationId="{ABDCC923-A3B9-398A-2ED5-6F7BAF37AB99}"/>
          </ac:cxnSpMkLst>
        </pc:cxnChg>
        <pc:cxnChg chg="add mod">
          <ac:chgData name="seif ahmed" userId="97af24f1cd4e9092" providerId="LiveId" clId="{FA2763E1-4C64-44D3-9CED-01F1EFD1E4FE}" dt="2026-05-08T20:04:59.568" v="217" actId="1076"/>
          <ac:cxnSpMkLst>
            <pc:docMk/>
            <pc:sldMk cId="0" sldId="262"/>
            <ac:cxnSpMk id="53" creationId="{1E919B80-1D89-61B9-5BB4-2E76049D3B09}"/>
          </ac:cxnSpMkLst>
        </pc:cxnChg>
        <pc:cxnChg chg="add mod">
          <ac:chgData name="seif ahmed" userId="97af24f1cd4e9092" providerId="LiveId" clId="{FA2763E1-4C64-44D3-9CED-01F1EFD1E4FE}" dt="2026-05-08T20:00:20.899" v="172" actId="14100"/>
          <ac:cxnSpMkLst>
            <pc:docMk/>
            <pc:sldMk cId="0" sldId="262"/>
            <ac:cxnSpMk id="54" creationId="{D379287C-1E90-28D5-6BE5-0505318F6893}"/>
          </ac:cxnSpMkLst>
        </pc:cxnChg>
        <pc:cxnChg chg="add mod">
          <ac:chgData name="seif ahmed" userId="97af24f1cd4e9092" providerId="LiveId" clId="{FA2763E1-4C64-44D3-9CED-01F1EFD1E4FE}" dt="2026-05-08T20:00:50.858" v="179" actId="14100"/>
          <ac:cxnSpMkLst>
            <pc:docMk/>
            <pc:sldMk cId="0" sldId="262"/>
            <ac:cxnSpMk id="55" creationId="{2050D267-2118-1AE4-1759-D41B75C61860}"/>
          </ac:cxnSpMkLst>
        </pc:cxnChg>
        <pc:cxnChg chg="add mod">
          <ac:chgData name="seif ahmed" userId="97af24f1cd4e9092" providerId="LiveId" clId="{FA2763E1-4C64-44D3-9CED-01F1EFD1E4FE}" dt="2026-05-08T20:01:48.246" v="189" actId="14100"/>
          <ac:cxnSpMkLst>
            <pc:docMk/>
            <pc:sldMk cId="0" sldId="262"/>
            <ac:cxnSpMk id="56" creationId="{8D147242-387F-9078-65ED-890ACB6611C1}"/>
          </ac:cxnSpMkLst>
        </pc:cxnChg>
        <pc:cxnChg chg="add mod">
          <ac:chgData name="seif ahmed" userId="97af24f1cd4e9092" providerId="LiveId" clId="{FA2763E1-4C64-44D3-9CED-01F1EFD1E4FE}" dt="2026-05-08T20:04:22.914" v="211" actId="14100"/>
          <ac:cxnSpMkLst>
            <pc:docMk/>
            <pc:sldMk cId="0" sldId="262"/>
            <ac:cxnSpMk id="62" creationId="{45FB47C1-FCE4-12CF-58E2-07BA9E8E7E7D}"/>
          </ac:cxnSpMkLst>
        </pc:cxnChg>
        <pc:cxnChg chg="add mod">
          <ac:chgData name="seif ahmed" userId="97af24f1cd4e9092" providerId="LiveId" clId="{FA2763E1-4C64-44D3-9CED-01F1EFD1E4FE}" dt="2026-05-08T20:08:56.943" v="358" actId="14100"/>
          <ac:cxnSpMkLst>
            <pc:docMk/>
            <pc:sldMk cId="0" sldId="262"/>
            <ac:cxnSpMk id="63" creationId="{7C12AFF8-2C03-872A-D7E9-CD23B3943E9D}"/>
          </ac:cxnSpMkLst>
        </pc:cxnChg>
        <pc:cxnChg chg="add mod">
          <ac:chgData name="seif ahmed" userId="97af24f1cd4e9092" providerId="LiveId" clId="{FA2763E1-4C64-44D3-9CED-01F1EFD1E4FE}" dt="2026-05-08T20:01:26.866" v="185" actId="1076"/>
          <ac:cxnSpMkLst>
            <pc:docMk/>
            <pc:sldMk cId="0" sldId="262"/>
            <ac:cxnSpMk id="66" creationId="{A6914A2F-EB81-6B19-E787-96AFDD240AF8}"/>
          </ac:cxnSpMkLst>
        </pc:cxnChg>
        <pc:cxnChg chg="add mod">
          <ac:chgData name="seif ahmed" userId="97af24f1cd4e9092" providerId="LiveId" clId="{FA2763E1-4C64-44D3-9CED-01F1EFD1E4FE}" dt="2026-05-08T20:01:58.942" v="192" actId="14100"/>
          <ac:cxnSpMkLst>
            <pc:docMk/>
            <pc:sldMk cId="0" sldId="262"/>
            <ac:cxnSpMk id="68" creationId="{2A4E6133-8536-092E-527A-0C38EBEA6148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956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77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498080" y="-731520"/>
            <a:ext cx="2560320" cy="256032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55280" y="-274320"/>
            <a:ext cx="1645920" cy="1645920"/>
          </a:xfrm>
          <a:prstGeom prst="ellipse">
            <a:avLst/>
          </a:prstGeom>
          <a:solidFill>
            <a:srgbClr val="F77F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2377440" cy="365760"/>
          </a:xfrm>
          <a:prstGeom prst="roundRect">
            <a:avLst>
              <a:gd name="adj" fmla="val 125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INF319 — System Analysis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6400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Freelancer</a:t>
            </a:r>
            <a:endParaRPr lang="en-US" sz="5200" dirty="0"/>
          </a:p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Marketplace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dirty="0">
                <a:solidFill>
                  <a:srgbClr val="F77F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" y="32461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0C4CF"/>
                </a:solidFill>
              </a:rPr>
              <a:t>Connecting Talent with Opportunity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794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77F00"/>
                </a:solidFill>
              </a:rPr>
              <a:t>PROJECT TEAM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169664"/>
            <a:ext cx="164592" cy="164592"/>
          </a:xfrm>
          <a:prstGeom prst="ellipse">
            <a:avLst/>
          </a:prstGeom>
          <a:solidFill>
            <a:srgbClr val="F77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4114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Youssef Mohamed: </a:t>
            </a:r>
            <a:r>
              <a:rPr lang="en-US" sz="950" dirty="0">
                <a:solidFill>
                  <a:srgbClr val="94A3B8"/>
                </a:solidFill>
              </a:rPr>
              <a:t>Introduction, Problem, Scope, Methodology, System Request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4462272"/>
            <a:ext cx="164592" cy="164592"/>
          </a:xfrm>
          <a:prstGeom prst="ellipse">
            <a:avLst/>
          </a:prstGeom>
          <a:solidFill>
            <a:srgbClr val="F77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5800" y="44074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Jana Hassan: </a:t>
            </a:r>
            <a:r>
              <a:rPr lang="en-US" sz="950" dirty="0">
                <a:solidFill>
                  <a:srgbClr val="94A3B8"/>
                </a:solidFill>
              </a:rPr>
              <a:t>Project Plan, Feasibility, Business Model, Requirements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4754880"/>
            <a:ext cx="164592" cy="164592"/>
          </a:xfrm>
          <a:prstGeom prst="ellipse">
            <a:avLst/>
          </a:prstGeom>
          <a:solidFill>
            <a:srgbClr val="F77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" y="470001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Seif Ahmed: </a:t>
            </a:r>
            <a:r>
              <a:rPr lang="en-US" sz="950" dirty="0">
                <a:solidFill>
                  <a:srgbClr val="94A3B8"/>
                </a:solidFill>
              </a:rPr>
              <a:t>Context &amp; Dataflow Diagrams, Use Cases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46320" y="4169664"/>
            <a:ext cx="164592" cy="164592"/>
          </a:xfrm>
          <a:prstGeom prst="ellipse">
            <a:avLst/>
          </a:prstGeom>
          <a:solidFill>
            <a:srgbClr val="F77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74920" y="4114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Omar Mohamed: </a:t>
            </a:r>
            <a:r>
              <a:rPr lang="en-US" sz="950" dirty="0">
                <a:solidFill>
                  <a:srgbClr val="94A3B8"/>
                </a:solidFill>
              </a:rPr>
              <a:t>Design Strategy, Test Scenarios, Activity Diagram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46320" y="4462272"/>
            <a:ext cx="164592" cy="164592"/>
          </a:xfrm>
          <a:prstGeom prst="ellipse">
            <a:avLst/>
          </a:prstGeom>
          <a:solidFill>
            <a:srgbClr val="F77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74920" y="44074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Diaa Eldeen: </a:t>
            </a:r>
            <a:r>
              <a:rPr lang="en-US" sz="950" dirty="0">
                <a:solidFill>
                  <a:srgbClr val="94A3B8"/>
                </a:solidFill>
              </a:rPr>
              <a:t>UI Design, ERD Diagram, System Acquisition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4008"/>
            <a:ext cx="9144000" cy="36576"/>
          </a:xfrm>
          <a:prstGeom prst="rect">
            <a:avLst/>
          </a:prstGeom>
          <a:solidFill>
            <a:srgbClr val="F77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8090"/>
                </a:solidFill>
              </a:rPr>
              <a:t>INTRODUCTION &amp; PROJECT IDEA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4023360" cy="34747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4023360" cy="34747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9144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INTRODUCTION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37160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7F00"/>
                </a:solidFill>
              </a:rPr>
              <a:t>▸  </a:t>
            </a:r>
            <a:r>
              <a:rPr lang="en-US" sz="1150" dirty="0">
                <a:solidFill>
                  <a:srgbClr val="0D2137"/>
                </a:solidFill>
              </a:rPr>
              <a:t>The digital economy's rapid growth has made freelancing a key employment model worldwide.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201168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7F00"/>
                </a:solidFill>
              </a:rPr>
              <a:t>▸  </a:t>
            </a:r>
            <a:r>
              <a:rPr lang="en-US" sz="1150" dirty="0">
                <a:solidFill>
                  <a:srgbClr val="0D2137"/>
                </a:solidFill>
              </a:rPr>
              <a:t>Problem: Clients struggle to find trustworthy freelancers; beginners lack visibility and credibility.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265176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7F00"/>
                </a:solidFill>
              </a:rPr>
              <a:t>▸  </a:t>
            </a:r>
            <a:r>
              <a:rPr lang="en-US" sz="1150" dirty="0">
                <a:solidFill>
                  <a:srgbClr val="0D2137"/>
                </a:solidFill>
              </a:rPr>
              <a:t>Existing platforms suffer from unclear ratings, lack of transparency, and poor communication.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329184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7F00"/>
                </a:solidFill>
              </a:rPr>
              <a:t>▸  </a:t>
            </a:r>
            <a:r>
              <a:rPr lang="en-US" sz="1150" dirty="0">
                <a:solidFill>
                  <a:srgbClr val="0D2137"/>
                </a:solidFill>
              </a:rPr>
              <a:t>Aim: Develop a structured, user-friendly Freelancer Marketplace connecting clients with freelancers.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54880" y="914400"/>
            <a:ext cx="4023360" cy="34747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54880" y="914400"/>
            <a:ext cx="4023360" cy="347472"/>
          </a:xfrm>
          <a:prstGeom prst="rect">
            <a:avLst/>
          </a:prstGeom>
          <a:solidFill>
            <a:srgbClr val="F77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0" y="9144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PROJECT IDEA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137160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</a:rPr>
              <a:t>▸  </a:t>
            </a:r>
            <a:r>
              <a:rPr lang="en-US" sz="1150" dirty="0">
                <a:solidFill>
                  <a:srgbClr val="0D2137"/>
                </a:solidFill>
              </a:rPr>
              <a:t>An online platform connecting freelancers with clients who need professional services.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92040" y="201168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</a:rPr>
              <a:t>▸  </a:t>
            </a:r>
            <a:r>
              <a:rPr lang="en-US" sz="1150" dirty="0">
                <a:solidFill>
                  <a:srgbClr val="0D2137"/>
                </a:solidFill>
              </a:rPr>
              <a:t>Freelancers create profiles with skills, portfolios, and services in organised categories.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92040" y="265176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</a:rPr>
              <a:t>▸  </a:t>
            </a:r>
            <a:r>
              <a:rPr lang="en-US" sz="1150" dirty="0">
                <a:solidFill>
                  <a:srgbClr val="0D2137"/>
                </a:solidFill>
              </a:rPr>
              <a:t>Clients post projects with descriptions, budgets, required skills, and deadlines.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92040" y="329184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</a:rPr>
              <a:t>▸  </a:t>
            </a:r>
            <a:r>
              <a:rPr lang="en-US" sz="1150" dirty="0">
                <a:solidFill>
                  <a:srgbClr val="0D2137"/>
                </a:solidFill>
              </a:rPr>
              <a:t>Both parties can review each other after completion — building trust and accountability.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</a:rPr>
              <a:t>Freelancer Marketplace System  |  INF319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77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77F00"/>
                </a:solidFill>
              </a:rPr>
              <a:t>SYSTEM REQUEST &amp; PROPOSAL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651760" cy="1005840"/>
          </a:xfrm>
          <a:prstGeom prst="rect">
            <a:avLst/>
          </a:prstGeom>
          <a:solidFill>
            <a:srgbClr val="0D3A50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2651760" cy="2743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9601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PROJECT SPONSOR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26187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Business Development Dept.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54680" y="960120"/>
            <a:ext cx="2651760" cy="1005840"/>
          </a:xfrm>
          <a:prstGeom prst="rect">
            <a:avLst/>
          </a:prstGeom>
          <a:solidFill>
            <a:srgbClr val="0D3A50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154680" y="960120"/>
            <a:ext cx="2651760" cy="2743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154680" y="9601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BUSINESS NEED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46120" y="126187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Reliable digital platform connecting freelancers &amp; clients efficiently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89320" y="960120"/>
            <a:ext cx="2651760" cy="1005840"/>
          </a:xfrm>
          <a:prstGeom prst="rect">
            <a:avLst/>
          </a:prstGeom>
          <a:solidFill>
            <a:srgbClr val="0D3A50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989320" y="960120"/>
            <a:ext cx="2651760" cy="2743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89320" y="9601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TANGIBLE VALUE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080760" y="126187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$800K commissions · $500K memberships · $250K ads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0040" y="210312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77F00"/>
                </a:solidFill>
              </a:rPr>
              <a:t>BUSINESS REQUIREMENTS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450592"/>
            <a:ext cx="4206240" cy="512064"/>
          </a:xfrm>
          <a:prstGeom prst="rect">
            <a:avLst/>
          </a:prstGeom>
          <a:solidFill>
            <a:srgbClr val="0D3A50"/>
          </a:solidFill>
          <a:ln w="12700">
            <a:solidFill>
              <a:srgbClr val="1E4D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0040" y="2450592"/>
            <a:ext cx="64008" cy="5120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2450592"/>
            <a:ext cx="3950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Freelancer professional profiles (skills, portfolio, experience, certifications)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3054096"/>
            <a:ext cx="4206240" cy="512064"/>
          </a:xfrm>
          <a:prstGeom prst="rect">
            <a:avLst/>
          </a:prstGeom>
          <a:solidFill>
            <a:srgbClr val="0D3A50"/>
          </a:solidFill>
          <a:ln w="12700">
            <a:solidFill>
              <a:srgbClr val="1E4D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" y="3054096"/>
            <a:ext cx="64008" cy="5120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3054096"/>
            <a:ext cx="3950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Client project posting (title, description, budget, deadline, required skills)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3657600"/>
            <a:ext cx="4206240" cy="512064"/>
          </a:xfrm>
          <a:prstGeom prst="rect">
            <a:avLst/>
          </a:prstGeom>
          <a:solidFill>
            <a:srgbClr val="0D3A50"/>
          </a:solidFill>
          <a:ln w="12700">
            <a:solidFill>
              <a:srgbClr val="1E4D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0040" y="3657600"/>
            <a:ext cx="64008" cy="5120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" y="3657600"/>
            <a:ext cx="3950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Proposal submission system for freelancers to bid on projects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2450592"/>
            <a:ext cx="4206240" cy="512064"/>
          </a:xfrm>
          <a:prstGeom prst="rect">
            <a:avLst/>
          </a:prstGeom>
          <a:solidFill>
            <a:srgbClr val="0D3A50"/>
          </a:solidFill>
          <a:ln w="12700">
            <a:solidFill>
              <a:srgbClr val="1E4D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754880" y="2450592"/>
            <a:ext cx="64008" cy="5120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37760" y="2450592"/>
            <a:ext cx="3950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Search &amp; filtering system based on skills, ratings, and experience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3054096"/>
            <a:ext cx="4206240" cy="512064"/>
          </a:xfrm>
          <a:prstGeom prst="rect">
            <a:avLst/>
          </a:prstGeom>
          <a:solidFill>
            <a:srgbClr val="0D3A50"/>
          </a:solidFill>
          <a:ln w="12700">
            <a:solidFill>
              <a:srgbClr val="1E4D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54880" y="3054096"/>
            <a:ext cx="64008" cy="5120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37760" y="3054096"/>
            <a:ext cx="3950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Review &amp; rating system after project completion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54880" y="3657600"/>
            <a:ext cx="4206240" cy="512064"/>
          </a:xfrm>
          <a:prstGeom prst="rect">
            <a:avLst/>
          </a:prstGeom>
          <a:solidFill>
            <a:srgbClr val="0D3A50"/>
          </a:solidFill>
          <a:ln w="12700">
            <a:solidFill>
              <a:srgbClr val="1E4D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754880" y="3657600"/>
            <a:ext cx="64008" cy="5120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937760" y="3657600"/>
            <a:ext cx="3950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Secure messaging &amp; notification system between parties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60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5720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</a:rPr>
              <a:t>Freelancer Marketplace System  |  INF319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4008"/>
            <a:ext cx="9144000" cy="36576"/>
          </a:xfrm>
          <a:prstGeom prst="rect">
            <a:avLst/>
          </a:prstGeom>
          <a:solidFill>
            <a:srgbClr val="F77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8090"/>
                </a:solidFill>
              </a:rPr>
              <a:t>FEASIBILITY ANALYSIS &amp; BUSINESS MODEL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2651760" cy="23774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2651760" cy="34747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9601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TECHNICAL FEASIBILITY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9768" y="1389888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✓  </a:t>
            </a:r>
            <a:r>
              <a:rPr lang="en-US" sz="1000" dirty="0">
                <a:solidFill>
                  <a:srgbClr val="0D2137"/>
                </a:solidFill>
              </a:rPr>
              <a:t>HTML/CSS/JS + Node.js + MySQL/MongoDB stack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9768" y="1865376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✓  </a:t>
            </a:r>
            <a:r>
              <a:rPr lang="en-US" sz="1000" dirty="0">
                <a:solidFill>
                  <a:srgbClr val="0D2137"/>
                </a:solidFill>
              </a:rPr>
              <a:t>Proven architecture for auth, messaging, payments &amp; search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9768" y="2340864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✓  </a:t>
            </a:r>
            <a:r>
              <a:rPr lang="en-US" sz="1000" dirty="0">
                <a:solidFill>
                  <a:srgbClr val="0D2137"/>
                </a:solidFill>
              </a:rPr>
              <a:t>Cloud hosting for scalable deployment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9768" y="2816352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✓  </a:t>
            </a:r>
            <a:r>
              <a:rPr lang="en-US" sz="1000" dirty="0">
                <a:solidFill>
                  <a:srgbClr val="0D2137"/>
                </a:solidFill>
              </a:rPr>
              <a:t>Dev team has required expertise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54680" y="960120"/>
            <a:ext cx="2651760" cy="23774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154680" y="960120"/>
            <a:ext cx="2651760" cy="347472"/>
          </a:xfrm>
          <a:prstGeom prst="rect">
            <a:avLst/>
          </a:prstGeom>
          <a:solidFill>
            <a:srgbClr val="F77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154680" y="9601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ECONOMIC FEASIBILITY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64408" y="1389888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77F00"/>
                </a:solidFill>
              </a:rPr>
              <a:t>✓  </a:t>
            </a:r>
            <a:r>
              <a:rPr lang="en-US" sz="1000" dirty="0">
                <a:solidFill>
                  <a:srgbClr val="0D2137"/>
                </a:solidFill>
              </a:rPr>
              <a:t>Costs: hosting, domain, payment gateway, maintenance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64408" y="1865376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77F00"/>
                </a:solidFill>
              </a:rPr>
              <a:t>✓  </a:t>
            </a:r>
            <a:r>
              <a:rPr lang="en-US" sz="1000" dirty="0">
                <a:solidFill>
                  <a:srgbClr val="0D2137"/>
                </a:solidFill>
              </a:rPr>
              <a:t>Revenue streams: commissions, premium memberships, sponsored listings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64408" y="2340864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77F00"/>
                </a:solidFill>
              </a:rPr>
              <a:t>✓  </a:t>
            </a:r>
            <a:r>
              <a:rPr lang="en-US" sz="1000" dirty="0">
                <a:solidFill>
                  <a:srgbClr val="0D2137"/>
                </a:solidFill>
              </a:rPr>
              <a:t>Conservative projection: $1.55M+ in platform revenue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64408" y="2816352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77F00"/>
                </a:solidFill>
              </a:rPr>
              <a:t>✓  </a:t>
            </a:r>
            <a:r>
              <a:rPr lang="en-US" sz="1000" dirty="0">
                <a:solidFill>
                  <a:srgbClr val="0D2137"/>
                </a:solidFill>
              </a:rPr>
              <a:t>Favorable ROI with growing user adoption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89320" y="960120"/>
            <a:ext cx="2651760" cy="23774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989320" y="960120"/>
            <a:ext cx="2651760" cy="34747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989320" y="9601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ORGANIZATIONAL FEASIBILITY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99048" y="1389888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✓  </a:t>
            </a:r>
            <a:r>
              <a:rPr lang="en-US" sz="1000" dirty="0">
                <a:solidFill>
                  <a:srgbClr val="0D2137"/>
                </a:solidFill>
              </a:rPr>
              <a:t>Aligns with digital expansion strategy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99048" y="1865376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✓  </a:t>
            </a:r>
            <a:r>
              <a:rPr lang="en-US" sz="1000" dirty="0">
                <a:solidFill>
                  <a:srgbClr val="0D2137"/>
                </a:solidFill>
              </a:rPr>
              <a:t>Agile methodology for continuous delivery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99048" y="2340864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✓  </a:t>
            </a:r>
            <a:r>
              <a:rPr lang="en-US" sz="1000" dirty="0">
                <a:solidFill>
                  <a:srgbClr val="0D2137"/>
                </a:solidFill>
              </a:rPr>
              <a:t>Addresses real user pain points → high adoption likelihood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099048" y="2816352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✓  </a:t>
            </a:r>
            <a:r>
              <a:rPr lang="en-US" sz="1000" dirty="0">
                <a:solidFill>
                  <a:srgbClr val="0D2137"/>
                </a:solidFill>
              </a:rPr>
              <a:t>Clear governance &amp; defined responsibilities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3456432"/>
            <a:ext cx="8503920" cy="292608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20040" y="345643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BUSINESS MODEL  —  Revenue Streams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3776472"/>
            <a:ext cx="2029968" cy="9601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20040" y="3776472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$800K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320040" y="425196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Service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Commissions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450592" y="3776472"/>
            <a:ext cx="2029968" cy="960120"/>
          </a:xfrm>
          <a:prstGeom prst="rect">
            <a:avLst/>
          </a:prstGeom>
          <a:solidFill>
            <a:srgbClr val="F77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450592" y="3776472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$500K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2450592" y="425196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Premium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Memberships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81144" y="3776472"/>
            <a:ext cx="2029968" cy="9601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581144" y="3776472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$250K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4581144" y="425196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Promoted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Listings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711696" y="3776472"/>
            <a:ext cx="2029968" cy="960120"/>
          </a:xfrm>
          <a:prstGeom prst="rect">
            <a:avLst/>
          </a:prstGeom>
          <a:solidFill>
            <a:srgbClr val="F77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711696" y="3776472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12 Sprints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6711696" y="425196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Agile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Methodology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5720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</a:rPr>
              <a:t>Freelancer Marketplace System  |  INF319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5720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77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77F00"/>
                </a:solidFill>
              </a:rPr>
              <a:t>REQUIREMENTS &amp; PROJECT PLAN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86868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28090"/>
                </a:solidFill>
              </a:rPr>
              <a:t>REQUIREMENTS ELICITATION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4160520" cy="457200"/>
          </a:xfrm>
          <a:prstGeom prst="rect">
            <a:avLst/>
          </a:prstGeom>
          <a:solidFill>
            <a:srgbClr val="0D3A50"/>
          </a:solidFill>
          <a:ln w="12700">
            <a:solidFill>
              <a:srgbClr val="1E4D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8912" y="117043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77F00"/>
                </a:solidFill>
              </a:rPr>
              <a:t>Interviews: </a:t>
            </a:r>
            <a:r>
              <a:rPr lang="en-US" sz="1000" dirty="0">
                <a:solidFill>
                  <a:srgbClr val="CBD5E1"/>
                </a:solidFill>
              </a:rPr>
              <a:t>Semi-structured sessions with freelancers &amp; clients (Fiverr/Upwork users)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682496"/>
            <a:ext cx="4160520" cy="457200"/>
          </a:xfrm>
          <a:prstGeom prst="rect">
            <a:avLst/>
          </a:prstGeom>
          <a:solidFill>
            <a:srgbClr val="0D3A50"/>
          </a:solidFill>
          <a:ln w="12700">
            <a:solidFill>
              <a:srgbClr val="1E4D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8912" y="168249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77F00"/>
                </a:solidFill>
              </a:rPr>
              <a:t>Questionnaires: </a:t>
            </a:r>
            <a:r>
              <a:rPr lang="en-US" sz="1000" dirty="0">
                <a:solidFill>
                  <a:srgbClr val="CBD5E1"/>
                </a:solidFill>
              </a:rPr>
              <a:t>Online survey on preferred features: payments, search, ratings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194560"/>
            <a:ext cx="4160520" cy="457200"/>
          </a:xfrm>
          <a:prstGeom prst="rect">
            <a:avLst/>
          </a:prstGeom>
          <a:solidFill>
            <a:srgbClr val="0D3A50"/>
          </a:solidFill>
          <a:ln w="12700">
            <a:solidFill>
              <a:srgbClr val="1E4D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8912" y="2194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77F00"/>
                </a:solidFill>
              </a:rPr>
              <a:t>Observation: </a:t>
            </a:r>
            <a:r>
              <a:rPr lang="en-US" sz="1000" dirty="0">
                <a:solidFill>
                  <a:srgbClr val="CBD5E1"/>
                </a:solidFill>
              </a:rPr>
              <a:t>Direct analysis of Upwork (bidding model) &amp; Fiverr (gig model)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706624"/>
            <a:ext cx="4160520" cy="457200"/>
          </a:xfrm>
          <a:prstGeom prst="rect">
            <a:avLst/>
          </a:prstGeom>
          <a:solidFill>
            <a:srgbClr val="0D3A50"/>
          </a:solidFill>
          <a:ln w="12700">
            <a:solidFill>
              <a:srgbClr val="1E4D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8912" y="270662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77F00"/>
                </a:solidFill>
              </a:rPr>
              <a:t>Document Analysis: </a:t>
            </a:r>
            <a:r>
              <a:rPr lang="en-US" sz="1000" dirty="0">
                <a:solidFill>
                  <a:srgbClr val="CBD5E1"/>
                </a:solidFill>
              </a:rPr>
              <a:t>IEEE/ACM papers, Stripe/PayPal docs, official platform support pages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09160" y="86868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28090"/>
                </a:solidFill>
              </a:rPr>
              <a:t>KEY NON-FUNCTIONAL REQUIREMENTS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09160" y="1170432"/>
            <a:ext cx="4160520" cy="310896"/>
          </a:xfrm>
          <a:prstGeom prst="rect">
            <a:avLst/>
          </a:prstGeom>
          <a:solidFill>
            <a:srgbClr val="0D3A50"/>
          </a:solidFill>
          <a:ln w="12700">
            <a:solidFill>
              <a:srgbClr val="1E4D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09160" y="1170432"/>
            <a:ext cx="64008" cy="31089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46320" y="1170432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Performance: Fast page loads, quick search results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9160" y="1527048"/>
            <a:ext cx="4160520" cy="310896"/>
          </a:xfrm>
          <a:prstGeom prst="rect">
            <a:avLst/>
          </a:prstGeom>
          <a:solidFill>
            <a:srgbClr val="0D3A50"/>
          </a:solidFill>
          <a:ln w="12700">
            <a:solidFill>
              <a:srgbClr val="1E4D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09160" y="1527048"/>
            <a:ext cx="64008" cy="31089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46320" y="1527048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Security: HTTPS, password encryption, RBAC, SQL/XSS protection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1883664"/>
            <a:ext cx="4160520" cy="310896"/>
          </a:xfrm>
          <a:prstGeom prst="rect">
            <a:avLst/>
          </a:prstGeom>
          <a:solidFill>
            <a:srgbClr val="0D3A50"/>
          </a:solidFill>
          <a:ln w="12700">
            <a:solidFill>
              <a:srgbClr val="1E4D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09160" y="1883664"/>
            <a:ext cx="64008" cy="31089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46320" y="1883664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Usability: Responsive design (desktop + mobile), tooltips for new users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2240280"/>
            <a:ext cx="4160520" cy="310896"/>
          </a:xfrm>
          <a:prstGeom prst="rect">
            <a:avLst/>
          </a:prstGeom>
          <a:solidFill>
            <a:srgbClr val="0D3A50"/>
          </a:solidFill>
          <a:ln w="12700">
            <a:solidFill>
              <a:srgbClr val="1E4D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09160" y="2240280"/>
            <a:ext cx="64008" cy="31089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46320" y="2240280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Reliability: Daily backups, graceful transaction failure handling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09160" y="2596896"/>
            <a:ext cx="4160520" cy="310896"/>
          </a:xfrm>
          <a:prstGeom prst="rect">
            <a:avLst/>
          </a:prstGeom>
          <a:solidFill>
            <a:srgbClr val="0D3A50"/>
          </a:solidFill>
          <a:ln w="12700">
            <a:solidFill>
              <a:srgbClr val="1E4D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709160" y="2596896"/>
            <a:ext cx="64008" cy="31089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46320" y="2596896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Scalability: Horizontal scaling for users &amp; projects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2953512"/>
            <a:ext cx="4160520" cy="310896"/>
          </a:xfrm>
          <a:prstGeom prst="rect">
            <a:avLst/>
          </a:prstGeom>
          <a:solidFill>
            <a:srgbClr val="0D3A50"/>
          </a:solidFill>
          <a:ln w="12700">
            <a:solidFill>
              <a:srgbClr val="1E4D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09160" y="2953512"/>
            <a:ext cx="64008" cy="31089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46320" y="2953512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Compliance: GDPR-aligned data protection &amp; privacy policy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0040" y="3337560"/>
            <a:ext cx="8503920" cy="2743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20040" y="33375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PROJECT PLAN — 12 Weeks (Agile)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0040" y="3639312"/>
            <a:ext cx="1627632" cy="1143000"/>
          </a:xfrm>
          <a:prstGeom prst="rect">
            <a:avLst/>
          </a:prstGeom>
          <a:solidFill>
            <a:srgbClr val="F77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20040" y="3639312"/>
            <a:ext cx="16276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Phase 1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Requirements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Wk 1–2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975104" y="4096512"/>
            <a:ext cx="128016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039112" y="3639312"/>
            <a:ext cx="1627632" cy="11430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039112" y="3639312"/>
            <a:ext cx="16276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Phase 2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Design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Wk 3–4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694176" y="4096512"/>
            <a:ext cx="128016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3758184" y="3639312"/>
            <a:ext cx="1627632" cy="1143000"/>
          </a:xfrm>
          <a:prstGeom prst="rect">
            <a:avLst/>
          </a:prstGeom>
          <a:solidFill>
            <a:srgbClr val="0D6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758184" y="3639312"/>
            <a:ext cx="16276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Phase 3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Development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Wk 5–9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413248" y="4096512"/>
            <a:ext cx="128016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5477256" y="3639312"/>
            <a:ext cx="1627632" cy="11430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477256" y="3639312"/>
            <a:ext cx="16276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Phase 4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Testing/QA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Wk 10–11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132320" y="4096512"/>
            <a:ext cx="128016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7196328" y="3639312"/>
            <a:ext cx="1627632" cy="1143000"/>
          </a:xfrm>
          <a:prstGeom prst="rect">
            <a:avLst/>
          </a:prstGeom>
          <a:solidFill>
            <a:srgbClr val="F77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196328" y="3639312"/>
            <a:ext cx="16276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Phase 5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Deployment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Wk 12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60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5720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</a:rPr>
              <a:t>Freelancer Marketplace System  |  INF319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5720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4008"/>
            <a:ext cx="9144000" cy="36576"/>
          </a:xfrm>
          <a:prstGeom prst="rect">
            <a:avLst/>
          </a:prstGeom>
          <a:solidFill>
            <a:srgbClr val="F77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8090"/>
                </a:solidFill>
              </a:rPr>
              <a:t>USE CASES &amp; DIAGRAMS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4023360" cy="35204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4023360" cy="34747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9144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UC-01: Post Project  [Client]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1335024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</a:rPr>
              <a:t>Trigger: </a:t>
            </a:r>
            <a:r>
              <a:rPr lang="en-US" sz="1050" dirty="0">
                <a:solidFill>
                  <a:srgbClr val="0D2137"/>
                </a:solidFill>
              </a:rPr>
              <a:t>Client clicks 'Post a Project' from dashboard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956816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</a:rPr>
              <a:t>Preconditions: </a:t>
            </a:r>
            <a:r>
              <a:rPr lang="en-US" sz="1050" dirty="0">
                <a:solidFill>
                  <a:srgbClr val="0D2137"/>
                </a:solidFill>
              </a:rPr>
              <a:t>Registered, logged in, verified account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38912" y="2578608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</a:rPr>
              <a:t>Normal Flow: </a:t>
            </a:r>
            <a:r>
              <a:rPr lang="en-US" sz="1050" dirty="0">
                <a:solidFill>
                  <a:srgbClr val="0D2137"/>
                </a:solidFill>
              </a:rPr>
              <a:t>Fill title/desc/skills/budget → Submit → System validates → Publishes listing → Notifies matching freelancers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38912" y="320040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</a:rPr>
              <a:t>Alternatives: </a:t>
            </a:r>
            <a:r>
              <a:rPr lang="en-US" sz="1050" dirty="0">
                <a:solidFill>
                  <a:srgbClr val="0D2137"/>
                </a:solidFill>
              </a:rPr>
              <a:t>Save as Draft; highlight missing fields on validation error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38912" y="3822192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</a:rPr>
              <a:t>Post-conditions: </a:t>
            </a:r>
            <a:r>
              <a:rPr lang="en-US" sz="1050" dirty="0">
                <a:solidFill>
                  <a:srgbClr val="0D2137"/>
                </a:solidFill>
              </a:rPr>
              <a:t>Project visible on marketplace; freelancers notified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00600" y="914400"/>
            <a:ext cx="4023360" cy="35204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800600" y="914400"/>
            <a:ext cx="4023360" cy="347472"/>
          </a:xfrm>
          <a:prstGeom prst="rect">
            <a:avLst/>
          </a:prstGeom>
          <a:solidFill>
            <a:srgbClr val="F77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00600" y="9144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UC-02: Submit Proposal  [Freelancer]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19472" y="1335024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77F00"/>
                </a:solidFill>
              </a:rPr>
              <a:t>Trigger: </a:t>
            </a:r>
            <a:r>
              <a:rPr lang="en-US" sz="1050" dirty="0">
                <a:solidFill>
                  <a:srgbClr val="0D2137"/>
                </a:solidFill>
              </a:rPr>
              <a:t>Freelancer clicks 'Submit a Proposal' on a listing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19472" y="1956816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77F00"/>
                </a:solidFill>
              </a:rPr>
              <a:t>Preconditions: </a:t>
            </a:r>
            <a:r>
              <a:rPr lang="en-US" sz="1050" dirty="0">
                <a:solidFill>
                  <a:srgbClr val="0D2137"/>
                </a:solidFill>
              </a:rPr>
              <a:t>Registered, logged in, completed profile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19472" y="2578608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77F00"/>
                </a:solidFill>
              </a:rPr>
              <a:t>Normal Flow: </a:t>
            </a:r>
            <a:r>
              <a:rPr lang="en-US" sz="1050" dirty="0">
                <a:solidFill>
                  <a:srgbClr val="0D2137"/>
                </a:solidFill>
              </a:rPr>
              <a:t>Browse listings → Select project → Enter cover letter/bid/timeline → Send → System saves &amp; notifies client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19472" y="320040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77F00"/>
                </a:solidFill>
              </a:rPr>
              <a:t>Alternatives: </a:t>
            </a:r>
            <a:r>
              <a:rPr lang="en-US" sz="1050" dirty="0">
                <a:solidFill>
                  <a:srgbClr val="0D2137"/>
                </a:solidFill>
              </a:rPr>
              <a:t>Highlight missing fields; block duplicate proposals with edit option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19472" y="3822192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77F00"/>
                </a:solidFill>
              </a:rPr>
              <a:t>Post-conditions: </a:t>
            </a:r>
            <a:r>
              <a:rPr lang="en-US" sz="1050" dirty="0">
                <a:solidFill>
                  <a:srgbClr val="0D2137"/>
                </a:solidFill>
              </a:rPr>
              <a:t>Proposal saved; client notified; appears in 'My Proposals'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</a:rPr>
              <a:t>Freelancer Marketplace System  |  INF319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77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77F00"/>
                </a:solidFill>
              </a:rPr>
              <a:t>DATAFLOW &amp; CONTEXT DIAGRAMS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501136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28090"/>
                </a:solidFill>
              </a:rPr>
              <a:t>CONTEXT DIAGRAM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46120" y="916684"/>
            <a:ext cx="2743200" cy="914400"/>
          </a:xfrm>
          <a:prstGeom prst="rect">
            <a:avLst/>
          </a:prstGeom>
          <a:solidFill>
            <a:srgbClr val="028090"/>
          </a:solidFill>
          <a:ln w="25400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46120" y="916684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Freelancer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Marketplace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System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865026"/>
            <a:ext cx="1371600" cy="457200"/>
          </a:xfrm>
          <a:prstGeom prst="rect">
            <a:avLst/>
          </a:prstGeom>
          <a:solidFill>
            <a:srgbClr val="F77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86502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CLIENT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589520" y="865026"/>
            <a:ext cx="1371600" cy="457200"/>
          </a:xfrm>
          <a:prstGeom prst="rect">
            <a:avLst/>
          </a:prstGeom>
          <a:solidFill>
            <a:srgbClr val="F77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589520" y="86502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FREELANCER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86200" y="29260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ADMIN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737360" y="82845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chemeClr val="accent5"/>
                </a:solidFill>
              </a:rPr>
              <a:t>Client data</a:t>
            </a:r>
          </a:p>
        </p:txBody>
      </p:sp>
      <p:sp>
        <p:nvSpPr>
          <p:cNvPr id="19" name="Text 17"/>
          <p:cNvSpPr/>
          <p:nvPr/>
        </p:nvSpPr>
        <p:spPr>
          <a:xfrm>
            <a:off x="6053328" y="82387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chemeClr val="accent5"/>
                </a:solidFill>
              </a:rPr>
              <a:t>Freelancer data</a:t>
            </a:r>
          </a:p>
        </p:txBody>
      </p:sp>
      <p:sp>
        <p:nvSpPr>
          <p:cNvPr id="20" name="Text 18"/>
          <p:cNvSpPr/>
          <p:nvPr/>
        </p:nvSpPr>
        <p:spPr>
          <a:xfrm>
            <a:off x="320040" y="237286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28090"/>
                </a:solidFill>
              </a:rPr>
              <a:t>DATAFLOW BREAKDOWN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2633472"/>
            <a:ext cx="8503920" cy="384048"/>
          </a:xfrm>
          <a:prstGeom prst="rect">
            <a:avLst/>
          </a:prstGeom>
          <a:solidFill>
            <a:srgbClr val="0D3A50"/>
          </a:solidFill>
          <a:ln w="12700">
            <a:solidFill>
              <a:srgbClr val="1E4D6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320040" y="2651760"/>
            <a:ext cx="64008" cy="38404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265176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77F00"/>
                </a:solidFill>
              </a:rPr>
              <a:t>Process 1: User Management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931920" y="265176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→  Registration → Auth → Profile Storage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081528"/>
            <a:ext cx="8503920" cy="384048"/>
          </a:xfrm>
          <a:prstGeom prst="rect">
            <a:avLst/>
          </a:prstGeom>
          <a:solidFill>
            <a:srgbClr val="0D3A50"/>
          </a:solidFill>
          <a:ln w="12700">
            <a:solidFill>
              <a:srgbClr val="1E4D6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320040" y="3081528"/>
            <a:ext cx="64008" cy="38404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308152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77F00"/>
                </a:solidFill>
              </a:rPr>
              <a:t>Process 2: Search &amp; Discovery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931920" y="308152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→  Query → Filter Engine → Results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3511296"/>
            <a:ext cx="8503920" cy="384048"/>
          </a:xfrm>
          <a:prstGeom prst="rect">
            <a:avLst/>
          </a:prstGeom>
          <a:solidFill>
            <a:srgbClr val="0D3A50"/>
          </a:solidFill>
          <a:ln w="12700">
            <a:solidFill>
              <a:srgbClr val="1E4D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20040" y="3511296"/>
            <a:ext cx="64008" cy="38404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57200" y="351129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77F00"/>
                </a:solidFill>
              </a:rPr>
              <a:t>Process 3: Project &amp; Proposal Mgmt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931920" y="351129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→  Post → Notify Freelancers → Proposals → Accept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0040" y="3941064"/>
            <a:ext cx="8503920" cy="384048"/>
          </a:xfrm>
          <a:prstGeom prst="rect">
            <a:avLst/>
          </a:prstGeom>
          <a:solidFill>
            <a:srgbClr val="0D3A50"/>
          </a:solidFill>
          <a:ln w="12700">
            <a:solidFill>
              <a:srgbClr val="1E4D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20040" y="3941064"/>
            <a:ext cx="64008" cy="38404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57200" y="394106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77F00"/>
                </a:solidFill>
              </a:rPr>
              <a:t>Process 4: Payment Processing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931920" y="3941064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→  Escrow → Milestone Release → Invoice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040" y="4370832"/>
            <a:ext cx="8503920" cy="384048"/>
          </a:xfrm>
          <a:prstGeom prst="rect">
            <a:avLst/>
          </a:prstGeom>
          <a:solidFill>
            <a:srgbClr val="0D3A50"/>
          </a:solidFill>
          <a:ln w="12700">
            <a:solidFill>
              <a:srgbClr val="1E4D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320040" y="4370832"/>
            <a:ext cx="64008" cy="38404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57200" y="437083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77F00"/>
                </a:solidFill>
              </a:rPr>
              <a:t>Process 5: Review System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931920" y="437083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→  Complete → Rate → Update Avg Rating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60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5720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</a:rPr>
              <a:t>Freelancer Marketplace System  |  INF319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5720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7 / 11</a:t>
            </a:r>
            <a:endParaRPr lang="en-US" sz="900" dirty="0"/>
          </a:p>
        </p:txBody>
      </p:sp>
      <p:sp>
        <p:nvSpPr>
          <p:cNvPr id="4" name="Shape 6">
            <a:extLst>
              <a:ext uri="{FF2B5EF4-FFF2-40B4-BE49-F238E27FC236}">
                <a16:creationId xmlns:a16="http://schemas.microsoft.com/office/drawing/2014/main" id="{CC8A0A05-46D6-FACF-DAE7-1176DE0577CA}"/>
              </a:ext>
            </a:extLst>
          </p:cNvPr>
          <p:cNvSpPr/>
          <p:nvPr/>
        </p:nvSpPr>
        <p:spPr>
          <a:xfrm>
            <a:off x="365760" y="1519965"/>
            <a:ext cx="1371600" cy="424051"/>
          </a:xfrm>
          <a:prstGeom prst="rect">
            <a:avLst/>
          </a:prstGeom>
          <a:solidFill>
            <a:srgbClr val="F77F00"/>
          </a:solidFill>
          <a:ln/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US" sz="1100" dirty="0">
                <a:solidFill>
                  <a:schemeClr val="bg1"/>
                </a:solidFill>
              </a:rPr>
              <a:t>admin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02DF6E1E-B6ED-3724-C15A-FF3D9EBF6BEB}"/>
              </a:ext>
            </a:extLst>
          </p:cNvPr>
          <p:cNvSpPr/>
          <p:nvPr/>
        </p:nvSpPr>
        <p:spPr>
          <a:xfrm>
            <a:off x="7589520" y="1570257"/>
            <a:ext cx="1371600" cy="435481"/>
          </a:xfrm>
          <a:prstGeom prst="rect">
            <a:avLst/>
          </a:prstGeom>
          <a:solidFill>
            <a:srgbClr val="F77F00"/>
          </a:solidFill>
          <a:ln/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US" sz="1050" dirty="0">
                <a:solidFill>
                  <a:schemeClr val="bg1"/>
                </a:solidFill>
              </a:rPr>
              <a:t>Payment gateway</a:t>
            </a:r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A97BB162-2DD3-E13A-9E5B-280E5887D18C}"/>
              </a:ext>
            </a:extLst>
          </p:cNvPr>
          <p:cNvSpPr/>
          <p:nvPr/>
        </p:nvSpPr>
        <p:spPr>
          <a:xfrm>
            <a:off x="3931920" y="2115468"/>
            <a:ext cx="1371600" cy="448056"/>
          </a:xfrm>
          <a:prstGeom prst="rect">
            <a:avLst/>
          </a:prstGeom>
          <a:solidFill>
            <a:srgbClr val="F77F00"/>
          </a:solidFill>
          <a:ln/>
        </p:spPr>
        <p:txBody>
          <a:bodyPr/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Email notification service</a:t>
            </a:r>
            <a:endParaRPr lang="en-US" sz="1050" dirty="0">
              <a:solidFill>
                <a:schemeClr val="bg1"/>
              </a:solidFill>
            </a:endParaRP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5686B32-2E06-B5A2-6C79-C4F004B6351B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6008915" y="1771599"/>
            <a:ext cx="1580605" cy="163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ABDCC923-A3B9-398A-2ED5-6F7BAF37AB99}"/>
              </a:ext>
            </a:extLst>
          </p:cNvPr>
          <p:cNvCxnSpPr>
            <a:cxnSpLocks/>
          </p:cNvCxnSpPr>
          <p:nvPr/>
        </p:nvCxnSpPr>
        <p:spPr>
          <a:xfrm>
            <a:off x="5989320" y="1270965"/>
            <a:ext cx="1580605" cy="163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1E919B80-1D89-61B9-5BB4-2E76049D3B09}"/>
              </a:ext>
            </a:extLst>
          </p:cNvPr>
          <p:cNvCxnSpPr>
            <a:cxnSpLocks/>
          </p:cNvCxnSpPr>
          <p:nvPr/>
        </p:nvCxnSpPr>
        <p:spPr>
          <a:xfrm>
            <a:off x="1729148" y="1232864"/>
            <a:ext cx="1516972" cy="152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D379287C-1E90-28D5-6BE5-0505318F6893}"/>
              </a:ext>
            </a:extLst>
          </p:cNvPr>
          <p:cNvCxnSpPr>
            <a:cxnSpLocks/>
          </p:cNvCxnSpPr>
          <p:nvPr/>
        </p:nvCxnSpPr>
        <p:spPr>
          <a:xfrm>
            <a:off x="1729148" y="1802461"/>
            <a:ext cx="1516972" cy="163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2050D267-2118-1AE4-1759-D41B75C61860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5989320" y="1086006"/>
            <a:ext cx="1600200" cy="76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D147242-387F-9078-65ED-890ACB6611C1}"/>
              </a:ext>
            </a:extLst>
          </p:cNvPr>
          <p:cNvCxnSpPr>
            <a:cxnSpLocks/>
          </p:cNvCxnSpPr>
          <p:nvPr/>
        </p:nvCxnSpPr>
        <p:spPr>
          <a:xfrm>
            <a:off x="4162301" y="1851237"/>
            <a:ext cx="0" cy="2413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5FB47C1-FCE4-12CF-58E2-07BA9E8E7E7D}"/>
              </a:ext>
            </a:extLst>
          </p:cNvPr>
          <p:cNvCxnSpPr>
            <a:cxnSpLocks/>
          </p:cNvCxnSpPr>
          <p:nvPr/>
        </p:nvCxnSpPr>
        <p:spPr>
          <a:xfrm flipH="1">
            <a:off x="1709928" y="1033047"/>
            <a:ext cx="15361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7C12AFF8-2C03-872A-D7E9-CD23B3943E9D}"/>
              </a:ext>
            </a:extLst>
          </p:cNvPr>
          <p:cNvCxnSpPr>
            <a:cxnSpLocks/>
          </p:cNvCxnSpPr>
          <p:nvPr/>
        </p:nvCxnSpPr>
        <p:spPr>
          <a:xfrm flipH="1" flipV="1">
            <a:off x="6008915" y="1577861"/>
            <a:ext cx="1566889" cy="240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A6914A2F-EB81-6B19-E787-96AFDD240AF8}"/>
              </a:ext>
            </a:extLst>
          </p:cNvPr>
          <p:cNvCxnSpPr>
            <a:cxnSpLocks/>
          </p:cNvCxnSpPr>
          <p:nvPr/>
        </p:nvCxnSpPr>
        <p:spPr>
          <a:xfrm flipH="1" flipV="1">
            <a:off x="1695640" y="1586245"/>
            <a:ext cx="1536192" cy="240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2A4E6133-8536-092E-527A-0C38EBEA6148}"/>
              </a:ext>
            </a:extLst>
          </p:cNvPr>
          <p:cNvCxnSpPr>
            <a:cxnSpLocks/>
          </p:cNvCxnSpPr>
          <p:nvPr/>
        </p:nvCxnSpPr>
        <p:spPr>
          <a:xfrm flipV="1">
            <a:off x="4898571" y="1831084"/>
            <a:ext cx="0" cy="2919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7CC1B048-427B-1F39-AEB9-18DFB5214CBF}"/>
              </a:ext>
            </a:extLst>
          </p:cNvPr>
          <p:cNvSpPr txBox="1"/>
          <p:nvPr/>
        </p:nvSpPr>
        <p:spPr>
          <a:xfrm>
            <a:off x="2039742" y="1205262"/>
            <a:ext cx="8107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accent5"/>
                </a:solidFill>
              </a:rPr>
              <a:t>Client requests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E40CC6D-9287-C849-782B-ABB53ACBDFBB}"/>
              </a:ext>
            </a:extLst>
          </p:cNvPr>
          <p:cNvSpPr txBox="1"/>
          <p:nvPr/>
        </p:nvSpPr>
        <p:spPr>
          <a:xfrm>
            <a:off x="2166905" y="1411652"/>
            <a:ext cx="8107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accent5"/>
                </a:solidFill>
              </a:rPr>
              <a:t>System reports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E2EAFAB-1D42-E025-1F5B-3D1DD99C92E7}"/>
              </a:ext>
            </a:extLst>
          </p:cNvPr>
          <p:cNvSpPr txBox="1"/>
          <p:nvPr/>
        </p:nvSpPr>
        <p:spPr>
          <a:xfrm>
            <a:off x="6476238" y="1417330"/>
            <a:ext cx="9721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accent5"/>
                </a:solidFill>
              </a:rPr>
              <a:t>payment requests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ECBD7F3-B192-C0D8-AF09-841D4D50BAB7}"/>
              </a:ext>
            </a:extLst>
          </p:cNvPr>
          <p:cNvSpPr txBox="1"/>
          <p:nvPr/>
        </p:nvSpPr>
        <p:spPr>
          <a:xfrm>
            <a:off x="2212777" y="1780507"/>
            <a:ext cx="9693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accent5"/>
                </a:solidFill>
              </a:rPr>
              <a:t>Admin commands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3AF4F72-185C-7B3E-1674-333F7ECE1A12}"/>
              </a:ext>
            </a:extLst>
          </p:cNvPr>
          <p:cNvSpPr txBox="1"/>
          <p:nvPr/>
        </p:nvSpPr>
        <p:spPr>
          <a:xfrm>
            <a:off x="6434435" y="1771721"/>
            <a:ext cx="10139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accent5"/>
                </a:solidFill>
              </a:rPr>
              <a:t>payment responses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318C330-0866-B71B-D4F0-5CF09DEB1ACE}"/>
              </a:ext>
            </a:extLst>
          </p:cNvPr>
          <p:cNvSpPr txBox="1"/>
          <p:nvPr/>
        </p:nvSpPr>
        <p:spPr>
          <a:xfrm>
            <a:off x="6434436" y="1241852"/>
            <a:ext cx="11413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accent5"/>
                </a:solidFill>
              </a:rPr>
              <a:t>Freelancer notification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E980C14-9F5B-52D4-43AA-70FD8717FF0B}"/>
              </a:ext>
            </a:extLst>
          </p:cNvPr>
          <p:cNvSpPr txBox="1"/>
          <p:nvPr/>
        </p:nvSpPr>
        <p:spPr>
          <a:xfrm>
            <a:off x="4837036" y="1900024"/>
            <a:ext cx="8107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accent5"/>
                </a:solidFill>
              </a:rPr>
              <a:t>email requests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4C20561-29FD-BAFA-3869-68A389CF255D}"/>
              </a:ext>
            </a:extLst>
          </p:cNvPr>
          <p:cNvSpPr txBox="1"/>
          <p:nvPr/>
        </p:nvSpPr>
        <p:spPr>
          <a:xfrm>
            <a:off x="3402707" y="1854968"/>
            <a:ext cx="8107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accent5"/>
                </a:solidFill>
              </a:rPr>
              <a:t>Email response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4008"/>
            <a:ext cx="9144000" cy="36576"/>
          </a:xfrm>
          <a:prstGeom prst="rect">
            <a:avLst/>
          </a:prstGeom>
          <a:solidFill>
            <a:srgbClr val="F77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8090"/>
                </a:solidFill>
              </a:rPr>
              <a:t>DESIGN STRATEGY &amp; ALTERNATIVE MATRIX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8503920" cy="4572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91440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  Selected Strategy: IN-HOUSE DEVELOPMENT  (Weighted Score: 4.35 / 5.00)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463040"/>
            <a:ext cx="2011680" cy="32004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463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Criterion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59152" y="1463040"/>
            <a:ext cx="640080" cy="32004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359152" y="14630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Weight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026664" y="1463040"/>
            <a:ext cx="1737360" cy="32004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026664" y="14630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In-House ✓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91456" y="1463040"/>
            <a:ext cx="1737360" cy="32004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91456" y="14630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Packaged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56248" y="1463040"/>
            <a:ext cx="1737360" cy="32004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56248" y="14630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Outsource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1801368"/>
            <a:ext cx="201168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1801368"/>
            <a:ext cx="2011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2137"/>
                </a:solidFill>
              </a:rPr>
              <a:t>Customization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359152" y="1801368"/>
            <a:ext cx="64008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359152" y="1801368"/>
            <a:ext cx="640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2137"/>
                </a:solidFill>
              </a:rPr>
              <a:t>20%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026664" y="1801368"/>
            <a:ext cx="17373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026664" y="1801368"/>
            <a:ext cx="1737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28090"/>
                </a:solidFill>
              </a:rPr>
              <a:t>5 → 1.00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91456" y="1801368"/>
            <a:ext cx="17373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91456" y="1801368"/>
            <a:ext cx="1737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2137"/>
                </a:solidFill>
              </a:rPr>
              <a:t>2 → 0.40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556248" y="1801368"/>
            <a:ext cx="17373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556248" y="1801368"/>
            <a:ext cx="1737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2137"/>
                </a:solidFill>
              </a:rPr>
              <a:t>3 → 0.60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2084832"/>
            <a:ext cx="2011680" cy="265176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20040" y="2084832"/>
            <a:ext cx="2011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2137"/>
                </a:solidFill>
              </a:rPr>
              <a:t>Development Cost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359152" y="2084832"/>
            <a:ext cx="640080" cy="265176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359152" y="2084832"/>
            <a:ext cx="640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2137"/>
                </a:solidFill>
              </a:rPr>
              <a:t>15%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026664" y="2084832"/>
            <a:ext cx="1737360" cy="265176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026664" y="2084832"/>
            <a:ext cx="1737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28090"/>
                </a:solidFill>
              </a:rPr>
              <a:t>3 → 0.45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91456" y="2084832"/>
            <a:ext cx="1737360" cy="265176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91456" y="2084832"/>
            <a:ext cx="1737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2137"/>
                </a:solidFill>
              </a:rPr>
              <a:t>4 → 0.60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556248" y="2084832"/>
            <a:ext cx="1737360" cy="265176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556248" y="2084832"/>
            <a:ext cx="1737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2137"/>
                </a:solidFill>
              </a:rPr>
              <a:t>2 → 0.30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0040" y="2368296"/>
            <a:ext cx="201168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20040" y="2368296"/>
            <a:ext cx="2011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2137"/>
                </a:solidFill>
              </a:rPr>
              <a:t>Time to Deploy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359152" y="2368296"/>
            <a:ext cx="64008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359152" y="2368296"/>
            <a:ext cx="640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2137"/>
                </a:solidFill>
              </a:rPr>
              <a:t>10%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026664" y="2368296"/>
            <a:ext cx="17373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026664" y="2368296"/>
            <a:ext cx="1737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28090"/>
                </a:solidFill>
              </a:rPr>
              <a:t>3 → 0.30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791456" y="2368296"/>
            <a:ext cx="17373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791456" y="2368296"/>
            <a:ext cx="1737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2137"/>
                </a:solidFill>
              </a:rPr>
              <a:t>5 → 0.50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556248" y="2368296"/>
            <a:ext cx="17373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556248" y="2368296"/>
            <a:ext cx="1737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2137"/>
                </a:solidFill>
              </a:rPr>
              <a:t>3 → 0.30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20040" y="2651760"/>
            <a:ext cx="2011680" cy="265176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20040" y="2651760"/>
            <a:ext cx="2011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2137"/>
                </a:solidFill>
              </a:rPr>
              <a:t>Scalability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359152" y="2651760"/>
            <a:ext cx="640080" cy="265176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2359152" y="2651760"/>
            <a:ext cx="640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2137"/>
                </a:solidFill>
              </a:rPr>
              <a:t>15%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026664" y="2651760"/>
            <a:ext cx="1737360" cy="265176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3026664" y="2651760"/>
            <a:ext cx="1737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28090"/>
                </a:solidFill>
              </a:rPr>
              <a:t>5 → 0.75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791456" y="2651760"/>
            <a:ext cx="1737360" cy="265176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791456" y="2651760"/>
            <a:ext cx="1737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2137"/>
                </a:solidFill>
              </a:rPr>
              <a:t>3 → 0.45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556248" y="2651760"/>
            <a:ext cx="1737360" cy="265176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556248" y="2651760"/>
            <a:ext cx="1737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2137"/>
                </a:solidFill>
              </a:rPr>
              <a:t>3 → 0.45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20040" y="2935224"/>
            <a:ext cx="201168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320040" y="2935224"/>
            <a:ext cx="2011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2137"/>
                </a:solidFill>
              </a:rPr>
              <a:t>Security &amp; Control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2359152" y="2935224"/>
            <a:ext cx="64008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2359152" y="2935224"/>
            <a:ext cx="640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2137"/>
                </a:solidFill>
              </a:rPr>
              <a:t>15%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3026664" y="2935224"/>
            <a:ext cx="17373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3026664" y="2935224"/>
            <a:ext cx="1737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28090"/>
                </a:solidFill>
              </a:rPr>
              <a:t>5 → 0.75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791456" y="2935224"/>
            <a:ext cx="17373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4791456" y="2935224"/>
            <a:ext cx="1737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2137"/>
                </a:solidFill>
              </a:rPr>
              <a:t>3 → 0.45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6556248" y="2935224"/>
            <a:ext cx="17373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6556248" y="2935224"/>
            <a:ext cx="1737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2137"/>
                </a:solidFill>
              </a:rPr>
              <a:t>3 → 0.45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320040" y="3218688"/>
            <a:ext cx="2011680" cy="265176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320040" y="3218688"/>
            <a:ext cx="2011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2137"/>
                </a:solidFill>
              </a:rPr>
              <a:t>Maintenance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2359152" y="3218688"/>
            <a:ext cx="640080" cy="265176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2359152" y="3218688"/>
            <a:ext cx="640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2137"/>
                </a:solidFill>
              </a:rPr>
              <a:t>10%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3026664" y="3218688"/>
            <a:ext cx="1737360" cy="265176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3026664" y="3218688"/>
            <a:ext cx="1737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28090"/>
                </a:solidFill>
              </a:rPr>
              <a:t>4 → 0.40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4791456" y="3218688"/>
            <a:ext cx="1737360" cy="265176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4791456" y="3218688"/>
            <a:ext cx="1737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2137"/>
                </a:solidFill>
              </a:rPr>
              <a:t>3 → 0.30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6556248" y="3218688"/>
            <a:ext cx="1737360" cy="265176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6556248" y="3218688"/>
            <a:ext cx="1737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2137"/>
                </a:solidFill>
              </a:rPr>
              <a:t>2 → 0.20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320040" y="3502152"/>
            <a:ext cx="201168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320040" y="3502152"/>
            <a:ext cx="2011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2137"/>
                </a:solidFill>
              </a:rPr>
              <a:t>IP Ownership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2359152" y="3502152"/>
            <a:ext cx="64008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2359152" y="3502152"/>
            <a:ext cx="640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2137"/>
                </a:solidFill>
              </a:rPr>
              <a:t>10%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3026664" y="3502152"/>
            <a:ext cx="17373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3026664" y="3502152"/>
            <a:ext cx="1737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28090"/>
                </a:solidFill>
              </a:rPr>
              <a:t>5 → 0.50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4791456" y="3502152"/>
            <a:ext cx="17373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4791456" y="3502152"/>
            <a:ext cx="1737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2137"/>
                </a:solidFill>
              </a:rPr>
              <a:t>2 → 0.20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6556248" y="3502152"/>
            <a:ext cx="17373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6556248" y="3502152"/>
            <a:ext cx="1737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2137"/>
                </a:solidFill>
              </a:rPr>
              <a:t>3 → 0.30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320040" y="3785616"/>
            <a:ext cx="2011680" cy="265176"/>
          </a:xfrm>
          <a:prstGeom prst="rect">
            <a:avLst/>
          </a:prstGeom>
          <a:solidFill>
            <a:srgbClr val="0D2137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320040" y="3785616"/>
            <a:ext cx="2011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77F00"/>
                </a:solidFill>
              </a:rPr>
              <a:t>TOTAL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2359152" y="3785616"/>
            <a:ext cx="640080" cy="265176"/>
          </a:xfrm>
          <a:prstGeom prst="rect">
            <a:avLst/>
          </a:prstGeom>
          <a:solidFill>
            <a:srgbClr val="0D2137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2359152" y="3785616"/>
            <a:ext cx="640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77F00"/>
                </a:solidFill>
              </a:rPr>
              <a:t>100%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3026664" y="3785616"/>
            <a:ext cx="1737360" cy="265176"/>
          </a:xfrm>
          <a:prstGeom prst="rect">
            <a:avLst/>
          </a:prstGeom>
          <a:solidFill>
            <a:srgbClr val="0D2137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3026664" y="3785616"/>
            <a:ext cx="1737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77F00"/>
                </a:solidFill>
              </a:rPr>
              <a:t>4.35 ★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4791456" y="3785616"/>
            <a:ext cx="1737360" cy="265176"/>
          </a:xfrm>
          <a:prstGeom prst="rect">
            <a:avLst/>
          </a:prstGeom>
          <a:solidFill>
            <a:srgbClr val="0D2137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4791456" y="3785616"/>
            <a:ext cx="1737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77F00"/>
                </a:solidFill>
              </a:rPr>
              <a:t>3.10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6556248" y="3785616"/>
            <a:ext cx="1737360" cy="265176"/>
          </a:xfrm>
          <a:prstGeom prst="rect">
            <a:avLst/>
          </a:prstGeom>
          <a:solidFill>
            <a:srgbClr val="0D2137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6556248" y="3785616"/>
            <a:ext cx="1737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77F00"/>
                </a:solidFill>
              </a:rPr>
              <a:t>2.75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320040" y="4160520"/>
            <a:ext cx="850392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457200" y="4187952"/>
            <a:ext cx="82753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Why In-House: </a:t>
            </a:r>
            <a:r>
              <a:rPr lang="en-US" sz="1000" dirty="0">
                <a:solidFill>
                  <a:srgbClr val="0D2137"/>
                </a:solidFill>
              </a:rPr>
              <a:t>Packaged solutions can't support custom skill-category filtering, portfolio-to-service linkage, or rating-based search ranking. Outsourcing introduces communication overhead and slows iteration. In-house gives full control over matching logic, data ownership, and rapid feature adaptation.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45720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</a:rPr>
              <a:t>Freelancer Marketplace System  |  INF319</a:t>
            </a:r>
            <a:endParaRPr lang="en-US" sz="900" dirty="0"/>
          </a:p>
        </p:txBody>
      </p:sp>
      <p:sp>
        <p:nvSpPr>
          <p:cNvPr id="102" name="Text 100"/>
          <p:cNvSpPr/>
          <p:nvPr/>
        </p:nvSpPr>
        <p:spPr>
          <a:xfrm>
            <a:off x="45720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77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77F00"/>
                </a:solidFill>
              </a:rPr>
              <a:t>TEST SCENARIOS &amp; ACTIVITY DIAGRAM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8503920" cy="1261872"/>
          </a:xfrm>
          <a:prstGeom prst="rect">
            <a:avLst/>
          </a:prstGeom>
          <a:solidFill>
            <a:srgbClr val="0D3A50"/>
          </a:solidFill>
          <a:ln w="12700">
            <a:solidFill>
              <a:srgbClr val="1E4D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1097280" cy="126187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2801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S1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9601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Freelancer Registration &amp; Profile Setup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720840" y="987552"/>
            <a:ext cx="1920240" cy="237744"/>
          </a:xfrm>
          <a:prstGeom prst="roundRect">
            <a:avLst>
              <a:gd name="adj" fmla="val 19231"/>
            </a:avLst>
          </a:prstGeom>
          <a:solidFill>
            <a:srgbClr val="028090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720840" y="98755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Functional (Black-Box)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508760" y="128016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77F00"/>
                </a:solidFill>
              </a:rPr>
              <a:t>Steps: </a:t>
            </a:r>
            <a:r>
              <a:rPr lang="en-US" sz="950" dirty="0">
                <a:solidFill>
                  <a:srgbClr val="CBD5E1"/>
                </a:solidFill>
              </a:rPr>
              <a:t>Register → Select Freelancer → Confirm email → Add skills/bio/portfolio → Save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508760" y="162763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DE80"/>
                </a:solidFill>
              </a:rPr>
              <a:t>✓ Pass: </a:t>
            </a:r>
            <a:r>
              <a:rPr lang="en-US" sz="950" dirty="0">
                <a:solidFill>
                  <a:srgbClr val="CBD5E1"/>
                </a:solidFill>
              </a:rPr>
              <a:t>Profile shows correct skills, bio and portfolio item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508760" y="188366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87171"/>
                </a:solidFill>
              </a:rPr>
              <a:t>✗ Fail: </a:t>
            </a:r>
            <a:r>
              <a:rPr lang="en-US" sz="950" dirty="0">
                <a:solidFill>
                  <a:srgbClr val="CBD5E1"/>
                </a:solidFill>
              </a:rPr>
              <a:t>Any data missing or profile page fails to load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267712"/>
            <a:ext cx="8503920" cy="1261872"/>
          </a:xfrm>
          <a:prstGeom prst="rect">
            <a:avLst/>
          </a:prstGeom>
          <a:solidFill>
            <a:srgbClr val="0D3A50"/>
          </a:solidFill>
          <a:ln w="12700">
            <a:solidFill>
              <a:srgbClr val="1E4D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" y="2267712"/>
            <a:ext cx="1097280" cy="1261872"/>
          </a:xfrm>
          <a:prstGeom prst="rect">
            <a:avLst/>
          </a:prstGeom>
          <a:solidFill>
            <a:srgbClr val="F77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" y="263347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S2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231343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Client Posts Project &amp; Freelancers Bid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720840" y="2340864"/>
            <a:ext cx="1920240" cy="237744"/>
          </a:xfrm>
          <a:prstGeom prst="roundRect">
            <a:avLst>
              <a:gd name="adj" fmla="val 19231"/>
            </a:avLst>
          </a:prstGeom>
          <a:solidFill>
            <a:srgbClr val="F77F00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720840" y="234086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Integration Testing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508760" y="263347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77F00"/>
                </a:solidFill>
              </a:rPr>
              <a:t>Steps: </a:t>
            </a:r>
            <a:r>
              <a:rPr lang="en-US" sz="950" dirty="0">
                <a:solidFill>
                  <a:srgbClr val="CBD5E1"/>
                </a:solidFill>
              </a:rPr>
              <a:t>Client posts project → Verify in freelancer feed → 2 freelancers bid → Client views both proposals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508760" y="298094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DE80"/>
                </a:solidFill>
              </a:rPr>
              <a:t>✓ Pass: </a:t>
            </a:r>
            <a:r>
              <a:rPr lang="en-US" sz="950" dirty="0">
                <a:solidFill>
                  <a:srgbClr val="CBD5E1"/>
                </a:solidFill>
              </a:rPr>
              <a:t>Both bids linked to correct project with right freelancer details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508760" y="323697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87171"/>
                </a:solidFill>
              </a:rPr>
              <a:t>✗ Fail: </a:t>
            </a:r>
            <a:r>
              <a:rPr lang="en-US" sz="950" dirty="0">
                <a:solidFill>
                  <a:srgbClr val="CBD5E1"/>
                </a:solidFill>
              </a:rPr>
              <a:t>Project absent from feed or bids missing/linked wrongly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3621024"/>
            <a:ext cx="8503920" cy="1261872"/>
          </a:xfrm>
          <a:prstGeom prst="rect">
            <a:avLst/>
          </a:prstGeom>
          <a:solidFill>
            <a:srgbClr val="0D3A50"/>
          </a:solidFill>
          <a:ln w="12700">
            <a:solidFill>
              <a:srgbClr val="1E4D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20040" y="3621024"/>
            <a:ext cx="1097280" cy="113385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" y="398678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S3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508760" y="366674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Client Leaves Review After Completion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720840" y="3694176"/>
            <a:ext cx="1920240" cy="237744"/>
          </a:xfrm>
          <a:prstGeom prst="roundRect">
            <a:avLst>
              <a:gd name="adj" fmla="val 19231"/>
            </a:avLst>
          </a:prstGeom>
          <a:solidFill>
            <a:srgbClr val="028090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720840" y="369417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System / UAT Testing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508760" y="3986784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77F00"/>
                </a:solidFill>
              </a:rPr>
              <a:t>Steps: </a:t>
            </a:r>
            <a:r>
              <a:rPr lang="en-US" sz="950" dirty="0">
                <a:solidFill>
                  <a:srgbClr val="CBD5E1"/>
                </a:solidFill>
              </a:rPr>
              <a:t>Both mark complete → Client submits 5-star review → Verify profile update → Try duplicate (blocked)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508760" y="433425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DE80"/>
                </a:solidFill>
              </a:rPr>
              <a:t>✓ Pass: </a:t>
            </a:r>
            <a:r>
              <a:rPr lang="en-US" sz="950" dirty="0">
                <a:solidFill>
                  <a:srgbClr val="CBD5E1"/>
                </a:solidFill>
              </a:rPr>
              <a:t>Review visible, avg rating updated, duplicate blocked with message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508760" y="459028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87171"/>
                </a:solidFill>
              </a:rPr>
              <a:t>✗ Fail: </a:t>
            </a:r>
            <a:r>
              <a:rPr lang="en-US" sz="950" dirty="0">
                <a:solidFill>
                  <a:srgbClr val="CBD5E1"/>
                </a:solidFill>
              </a:rPr>
              <a:t>Review absent, wrong rating, or duplicate accepted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" y="4645152"/>
            <a:ext cx="8503920" cy="182880"/>
          </a:xfrm>
          <a:prstGeom prst="rect">
            <a:avLst/>
          </a:prstGeom>
          <a:solidFill>
            <a:srgbClr val="0D3A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20040" y="4645152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Activity Diagram: Full lifecycle — Login → Post Project → Bid → Start → Deliver → Revision Loop → Review  (Client &amp; Freelancer swim lanes)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60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5720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</a:rPr>
              <a:t>Freelancer Marketplace System  |  INF319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4008"/>
            <a:ext cx="9144000" cy="36576"/>
          </a:xfrm>
          <a:prstGeom prst="rect">
            <a:avLst/>
          </a:prstGeom>
          <a:solidFill>
            <a:srgbClr val="F77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8090"/>
                </a:solidFill>
              </a:rPr>
              <a:t>UI DESIGN, ERD &amp; SYSTEM ACQUISITION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4023360" cy="3840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4023360" cy="34747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9144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USER INTERFACE DESIGN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335024"/>
            <a:ext cx="3840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11480" y="1335024"/>
            <a:ext cx="54864" cy="548640"/>
          </a:xfrm>
          <a:prstGeom prst="rect">
            <a:avLst/>
          </a:prstGeom>
          <a:solidFill>
            <a:srgbClr val="F77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13350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</a:rPr>
              <a:t>Home / Landing Page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1572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Hero section, featured freelancers, category browse, CTA buttons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1975104"/>
            <a:ext cx="3840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11480" y="1975104"/>
            <a:ext cx="54864" cy="548640"/>
          </a:xfrm>
          <a:prstGeom prst="rect">
            <a:avLst/>
          </a:prstGeom>
          <a:solidFill>
            <a:srgbClr val="F77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1975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</a:rPr>
              <a:t>Freelancer Profile Page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22128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Photo, bio, skills, portfolio gallery, reviews, hire button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2615184"/>
            <a:ext cx="3840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11480" y="2615184"/>
            <a:ext cx="54864" cy="548640"/>
          </a:xfrm>
          <a:prstGeom prst="rect">
            <a:avLst/>
          </a:prstGeom>
          <a:solidFill>
            <a:srgbClr val="F77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26151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</a:rPr>
              <a:t>Project Posting Form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2852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Title, description, budget range, deadline, skill tags selector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3255264"/>
            <a:ext cx="3840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11480" y="3255264"/>
            <a:ext cx="54864" cy="548640"/>
          </a:xfrm>
          <a:prstGeom prst="rect">
            <a:avLst/>
          </a:prstGeom>
          <a:solidFill>
            <a:srgbClr val="F77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32552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</a:rPr>
              <a:t>Proposal Dashboard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3493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Submitted bids list, freelancer cards, accept/reject actions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1480" y="3895344"/>
            <a:ext cx="3840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11480" y="3895344"/>
            <a:ext cx="54864" cy="548640"/>
          </a:xfrm>
          <a:prstGeom prst="rect">
            <a:avLst/>
          </a:prstGeom>
          <a:solidFill>
            <a:srgbClr val="F77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" y="38953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</a:rPr>
              <a:t>Messaging Interface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4133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Chat window, file sharing, notification badges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11480" y="454456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28090"/>
                </a:solidFill>
              </a:rPr>
              <a:t>Live demo: diaa-eldeen2004.github.io/FreeLance-system_analysis-/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800600" y="914400"/>
            <a:ext cx="4023360" cy="3840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800600" y="914400"/>
            <a:ext cx="4023360" cy="347472"/>
          </a:xfrm>
          <a:prstGeom prst="rect">
            <a:avLst/>
          </a:prstGeom>
          <a:solidFill>
            <a:srgbClr val="F77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00600" y="9144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ERD &amp; SYSTEM ACQUISITION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92040" y="133502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ERD — Key Entities &amp; Relationships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92040" y="1664208"/>
            <a:ext cx="38404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956048" y="1664208"/>
            <a:ext cx="3712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</a:rPr>
              <a:t>USER  </a:t>
            </a:r>
            <a:r>
              <a:rPr lang="en-US" sz="900" dirty="0">
                <a:solidFill>
                  <a:srgbClr val="64748B"/>
                </a:solidFill>
              </a:rPr>
              <a:t>userId, name, email, role, password, created_at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892040" y="2066544"/>
            <a:ext cx="38404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956048" y="2066544"/>
            <a:ext cx="3712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</a:rPr>
              <a:t>PROJECT  </a:t>
            </a:r>
            <a:r>
              <a:rPr lang="en-US" sz="900" dirty="0">
                <a:solidFill>
                  <a:srgbClr val="64748B"/>
                </a:solidFill>
              </a:rPr>
              <a:t>projectId, title, description, budget, deadline, clientId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92040" y="2468880"/>
            <a:ext cx="38404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956048" y="2468880"/>
            <a:ext cx="3712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</a:rPr>
              <a:t>PROPOSAL  </a:t>
            </a:r>
            <a:r>
              <a:rPr lang="en-US" sz="900" dirty="0">
                <a:solidFill>
                  <a:srgbClr val="64748B"/>
                </a:solidFill>
              </a:rPr>
              <a:t>proposalId, freelancerId, projectId, bid, timeline, status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92040" y="2871216"/>
            <a:ext cx="38404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956048" y="2871216"/>
            <a:ext cx="3712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</a:rPr>
              <a:t>REVIEW  </a:t>
            </a:r>
            <a:r>
              <a:rPr lang="en-US" sz="900" dirty="0">
                <a:solidFill>
                  <a:srgbClr val="64748B"/>
                </a:solidFill>
              </a:rPr>
              <a:t>reviewId, rating, comment, fromUser, toUser, projectId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92040" y="3273552"/>
            <a:ext cx="38404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956048" y="3273552"/>
            <a:ext cx="3712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</a:rPr>
              <a:t>MESSAGE  </a:t>
            </a:r>
            <a:r>
              <a:rPr lang="en-US" sz="900" dirty="0">
                <a:solidFill>
                  <a:srgbClr val="64748B"/>
                </a:solidFill>
              </a:rPr>
              <a:t>messageId, senderId, receiverId, content, timestamp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92040" y="37033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System Acquisition — In-House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892040" y="3977640"/>
            <a:ext cx="3017520" cy="16459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956048" y="397764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</a:rPr>
              <a:t>Fits specific features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178040" y="397764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</a:rPr>
              <a:t>Yes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892040" y="4160520"/>
            <a:ext cx="3017520" cy="16459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956048" y="4160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</a:rPr>
              <a:t>Full product control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178040" y="416052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</a:rPr>
              <a:t>Yes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892040" y="4343400"/>
            <a:ext cx="3017520" cy="16459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956048" y="434340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</a:rPr>
              <a:t>Easy to modify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178040" y="4343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</a:rPr>
              <a:t>Yes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892040" y="4526280"/>
            <a:ext cx="3017520" cy="16459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956048" y="452628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</a:rPr>
              <a:t>Owns data &amp; logic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178040" y="452628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</a:rPr>
              <a:t>Yes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45720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</a:rPr>
              <a:t>Freelancer Marketplace System  |  INF319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5720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28090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F77F0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0" y="-457200"/>
            <a:ext cx="1828800" cy="182880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77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18872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77F00"/>
                </a:solidFill>
              </a:rPr>
              <a:t>for your attention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286000" y="2788920"/>
            <a:ext cx="45720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2971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Freelancer Marketplace </a:t>
            </a:r>
            <a:r>
              <a:rPr lang="en-US" sz="1400">
                <a:solidFill>
                  <a:srgbClr val="94A3B8"/>
                </a:solidFill>
              </a:rPr>
              <a:t>System 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EEAD4"/>
                </a:solidFill>
              </a:rPr>
              <a:t>Youssef Mohamed  ·  Jana Hassam  ·  Seif Ahmed  ·  Omar Mohamed  ·  Diaa Eldeen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931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77F00"/>
                </a:solidFill>
              </a:rPr>
              <a:t>Questions?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914400" y="45537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28090"/>
                </a:solidFill>
              </a:rPr>
              <a:t>diaa-eldeen2004.github.io/FreeLance-system_analysis-/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1511</Words>
  <Application>Microsoft Office PowerPoint</Application>
  <PresentationFormat>On-screen Show (16:9)</PresentationFormat>
  <Paragraphs>271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Freelancer Marketplace System</dc:title>
  <dc:subject>PptxGenJS Presentation</dc:subject>
  <dc:creator>PptxGenJS</dc:creator>
  <cp:lastModifiedBy>seif ahmed</cp:lastModifiedBy>
  <cp:revision>3</cp:revision>
  <dcterms:created xsi:type="dcterms:W3CDTF">2026-05-08T19:28:45Z</dcterms:created>
  <dcterms:modified xsi:type="dcterms:W3CDTF">2026-05-08T20:11:08Z</dcterms:modified>
</cp:coreProperties>
</file>